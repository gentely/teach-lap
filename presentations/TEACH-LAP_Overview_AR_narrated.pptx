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3"/><Relationship Id="rId3" Type="http://schemas.openxmlformats.org/officeDocument/2006/relationships/video" Target="../media/media1.mp3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3"/><Relationship Id="rId3" Type="http://schemas.openxmlformats.org/officeDocument/2006/relationships/video" Target="../media/media2.mp3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3"/><Relationship Id="rId3" Type="http://schemas.openxmlformats.org/officeDocument/2006/relationships/video" Target="../media/media3.mp3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3"/><Relationship Id="rId3" Type="http://schemas.openxmlformats.org/officeDocument/2006/relationships/video" Target="../media/media4.mp3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3"/><Relationship Id="rId3" Type="http://schemas.openxmlformats.org/officeDocument/2006/relationships/video" Target="../media/media5.mp3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3"/><Relationship Id="rId3" Type="http://schemas.openxmlformats.org/officeDocument/2006/relationships/video" Target="../media/media6.mp3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3"/><Relationship Id="rId3" Type="http://schemas.openxmlformats.org/officeDocument/2006/relationships/video" Target="../media/media7.mp3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3"/><Relationship Id="rId3" Type="http://schemas.openxmlformats.org/officeDocument/2006/relationships/video" Target="../media/media8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26880" y="411480"/>
            <a:ext cx="1463040" cy="320040"/>
          </a:xfrm>
          <a:prstGeom prst="round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B3C49"/>
                </a:solidFill>
                <a:latin typeface="Calibri"/>
              </a:defRPr>
            </a:pPr>
            <a:r>
              <a:t>Next.js  •  Supabase  •  Gemini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جامعة صبراتة  •  كلية التربية  •  قسم اللغة الإنجليزية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5400" b="1" i="0">
                <a:solidFill>
                  <a:srgbClr val="FFFFFF"/>
                </a:solidFill>
                <a:latin typeface="Calibri"/>
              </a:defRPr>
            </a:pPr>
            <a:r>
              <a:t>TEACH-LAP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0" i="0">
                <a:solidFill>
                  <a:srgbClr val="FFF0C0"/>
                </a:solidFill>
                <a:latin typeface="Calibri"/>
              </a:defRPr>
            </a:pPr>
            <a:r>
              <a:t>المساعد التدريسي الذكي لتدريس اللغة الإنجليزية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يحوّل تحضير المحاضرة من ساعات إلى دقائق — خاص، آمن، ومصمم للفصل المعياري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AABBCC"/>
                </a:solidFill>
                <a:latin typeface="Calibri"/>
              </a:defRPr>
            </a:pPr>
            <a:r>
              <a:t>منصة ثنائية اللغة  •  EN / AR  •  2025 — 2026</a:t>
            </a:r>
          </a:p>
        </p:txBody>
      </p:sp>
      <p:sp>
        <p:nvSpPr>
          <p:cNvPr id="9" name="Oval 8"/>
          <p:cNvSpPr/>
          <p:nvPr/>
        </p:nvSpPr>
        <p:spPr>
          <a:xfrm>
            <a:off x="9601200" y="2926080"/>
            <a:ext cx="1280160" cy="128016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0B3C49"/>
                </a:solidFill>
                <a:latin typeface="Calibri"/>
              </a:defRPr>
            </a:pPr>
            <a:r>
              <a:t>S</a:t>
            </a:r>
          </a:p>
        </p:txBody>
      </p:sp>
      <p:pic>
        <p:nvPicPr>
          <p:cNvPr id="10" name="01_AR_intro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7120" y="137160"/>
            <a:ext cx="54864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E3B23C"/>
                </a:solidFill>
                <a:latin typeface="Calibri"/>
              </a:defRPr>
            </a:pPr>
            <a:r>
              <a:t>🔊 Audio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01  التعريف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ما هو TEACH-LAP؟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900" b="0">
                <a:solidFill>
                  <a:srgbClr val="334155"/>
                </a:solidFill>
                <a:latin typeface="Calibri"/>
              </a:defRPr>
            </a:pPr>
            <a:r>
              <a:t>•  منصة ويب خاصة تحوّل النصوص والملفات الخام إلى محاضرات أكاديمية منظمة خلال ثوانٍ</a:t>
            </a:r>
          </a:p>
          <a:p>
            <a:pPr algn="r">
              <a:spcAft>
                <a:spcPts val="800"/>
              </a:spcAft>
              <a:defRPr sz="900" b="0">
                <a:solidFill>
                  <a:srgbClr val="334155"/>
                </a:solidFill>
                <a:latin typeface="Calibri"/>
              </a:defRPr>
            </a:pPr>
            <a:r>
              <a:t>•  مدعوم بـ Gemini — يولّد: ملخصاً (220-350 كلمة)، مفاهيم أساسية، خلاصات، تطبيقات صفية، سيناريو وأسئلة، مهام تأملية ونقاشية</a:t>
            </a:r>
          </a:p>
          <a:p>
            <a:pPr algn="r">
              <a:spcAft>
                <a:spcPts val="800"/>
              </a:spcAft>
              <a:defRPr sz="900" b="0">
                <a:solidFill>
                  <a:srgbClr val="334155"/>
                </a:solidFill>
                <a:latin typeface="Calibri"/>
              </a:defRPr>
            </a:pPr>
            <a:r>
              <a:t>•  كل توليد يُحفظ تلقائياً في سجل آمن معزول لكل أستاذة (Supabase) ويمكن تصديره Markdown / .txt</a:t>
            </a:r>
          </a:p>
          <a:p>
            <a:pPr algn="r">
              <a:spcAft>
                <a:spcPts val="800"/>
              </a:spcAft>
              <a:defRPr sz="900" b="0">
                <a:solidFill>
                  <a:srgbClr val="334155"/>
                </a:solidFill>
                <a:latin typeface="Calibri"/>
              </a:defRPr>
            </a:pPr>
            <a:r>
              <a:t>•  إخراج ثنائي اللغة: إنجليزية، عربية، أو ثنائية — مؤسس على SAMR/TPACK وواقع الفصل المعياري الليبي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66160" cy="3931920"/>
          </a:xfrm>
          <a:prstGeom prst="roundRect">
            <a:avLst/>
          </a:prstGeom>
          <a:solidFill>
            <a:srgbClr val="F2F9FB"/>
          </a:solidFill>
          <a:ln>
            <a:solidFill>
              <a:srgbClr val="E6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الوعد الأساسي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1000"/>
              </a:spcAft>
              <a:defRPr sz="900" b="0">
                <a:solidFill>
                  <a:srgbClr val="334155"/>
                </a:solidFill>
                <a:latin typeface="Calibri"/>
              </a:defRPr>
            </a:pPr>
            <a:r>
              <a:t>✓  فصول كبيرة؟ مدعومة.</a:t>
            </a:r>
          </a:p>
          <a:p>
            <a:pPr algn="r">
              <a:spcAft>
                <a:spcPts val="1000"/>
              </a:spcAft>
              <a:defRPr sz="900" b="0">
                <a:solidFill>
                  <a:srgbClr val="334155"/>
                </a:solidFill>
                <a:latin typeface="Calibri"/>
              </a:defRPr>
            </a:pPr>
            <a:r>
              <a:t>✓  أجهزة محدودة؟ محسّن للهواتف الذكية.</a:t>
            </a:r>
          </a:p>
          <a:p>
            <a:pPr algn="r">
              <a:spcAft>
                <a:spcPts val="1000"/>
              </a:spcAft>
              <a:defRPr sz="900" b="0">
                <a:solidFill>
                  <a:srgbClr val="334155"/>
                </a:solidFill>
                <a:latin typeface="Calibri"/>
              </a:defRPr>
            </a:pPr>
            <a:r>
              <a:t>✓  إنترنت متقطع؟ خفيف وسريع.</a:t>
            </a:r>
          </a:p>
          <a:p>
            <a:pPr algn="r">
              <a:spcAft>
                <a:spcPts val="1000"/>
              </a:spcAft>
              <a:defRPr sz="900" b="0">
                <a:solidFill>
                  <a:srgbClr val="334155"/>
                </a:solidFill>
                <a:latin typeface="Calibri"/>
              </a:defRPr>
            </a:pPr>
            <a:r>
              <a:t>✓  خصوصية الأستاذة؟ مساحات معزولة 100%.</a:t>
            </a:r>
          </a:p>
        </p:txBody>
      </p:sp>
      <p:pic>
        <p:nvPicPr>
          <p:cNvPr id="9" name="02_AR_definition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7120" y="137160"/>
            <a:ext cx="54864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🔊 Audio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02  الأهمية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لماذا هو مهم؟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577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⏱ توفير الوقت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 i="0">
                <a:solidFill>
                  <a:srgbClr val="334155"/>
                </a:solidFill>
                <a:latin typeface="Calibri"/>
              </a:defRPr>
            </a:pPr>
            <a:r>
              <a:t>يقلّص التحضير من 3-4 ساعات إلى أقل من 5 دقائق. تركيز الأستاذة على التدريس لا التنسيق.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73152" cy="2240280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577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🎯 جودة واتساق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 i="0">
                <a:solidFill>
                  <a:srgbClr val="334155"/>
                </a:solidFill>
                <a:latin typeface="Calibri"/>
              </a:defRPr>
            </a:pPr>
            <a:r>
              <a:t>كل محاضرة بنفس الصرامة الأكاديمية: روابط SAMR/TPACK ووسوم مهارات ELT وملاءمة للسياق الليبي.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73152" cy="2240280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5577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🔒 خصوصية بالتصميم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 i="0">
                <a:solidFill>
                  <a:srgbClr val="334155"/>
                </a:solidFill>
                <a:latin typeface="Calibri"/>
              </a:defRPr>
            </a:pPr>
            <a:r>
              <a:t>ليس سوقاً عاماً. كل أستاذة ترى مقرراتها وطالباتها وسجلها فقط. عزل عبر service-role.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73152" cy="2240280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4023360"/>
            <a:ext cx="5577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📱 ملاءمة واقعية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7091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 i="0">
                <a:solidFill>
                  <a:srgbClr val="334155"/>
                </a:solidFill>
                <a:latin typeface="Calibri"/>
              </a:defRPr>
            </a:pPr>
            <a:r>
              <a:t>مصمم للفصل المعياري — مجموعات كبيرة، هواتف فقط، نطاق ضعيف. لا حاجة لمختبر.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023360"/>
            <a:ext cx="73152" cy="2240280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03_AR_importance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7120" y="137160"/>
            <a:ext cx="54864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🔊 Audio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03  الجمهور المستهدف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لمن هذا الموقع؟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57600" cy="411480"/>
          </a:xfrm>
          <a:prstGeom prst="round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المستخدِمون الأساسيون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700"/>
              </a:spcAft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 أستاذتان بمساحتي عمل معزولتين تماماً — لكل واحدة دخولها ومقرراتها حسب السنة/السمستر وكوكبة طالباتها</a:t>
            </a:r>
          </a:p>
          <a:p>
            <a:pPr algn="r">
              <a:spcAft>
                <a:spcPts val="700"/>
              </a:spcAft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 الأستاذة (أ): 4 مواد نشطة (السنوات 1-4) — مثل CALL والمحادثة وطرق التدريس والصوتيات</a:t>
            </a:r>
          </a:p>
          <a:p>
            <a:pPr algn="r">
              <a:spcAft>
                <a:spcPts val="700"/>
              </a:spcAft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 الأستاذة (ب): 3 مواد نشطة (السنوات 1 و 4) — مثل الكتابة والأدب والتدريس المصغر</a:t>
            </a:r>
          </a:p>
          <a:p>
            <a:pPr algn="r">
              <a:spcAft>
                <a:spcPts val="700"/>
              </a:spcAft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 جداول مضمّنة لكل مادة (اليوم + الحصة + التوقيت)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657600" cy="411480"/>
          </a:xfrm>
          <a:prstGeom prst="round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الطالبات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700"/>
              </a:spcAft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 مدعوات لكل مقرر/سنة عبر البريد من قبل أستاذتهن — لا تسجيل ذاتي عشوائي</a:t>
            </a:r>
          </a:p>
          <a:p>
            <a:pPr algn="r">
              <a:spcAft>
                <a:spcPts val="700"/>
              </a:spcAft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 يعرضن المحاضرات المنشورة، يحفظن الملخصات (.md/.txt)، ويرين الحضور والدرجات (قراءة فقط)</a:t>
            </a:r>
          </a:p>
          <a:p>
            <a:pPr algn="r">
              <a:spcAft>
                <a:spcPts val="700"/>
              </a:spcAft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 لا وصول لـ Gemini — استهلاك وتأمل فقط للحفاظ على عدالة التقييم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417320"/>
            <a:ext cx="3657600" cy="411480"/>
          </a:xfrm>
          <a:prstGeom prst="round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الإدارة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0116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700"/>
              </a:spcAft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 متابعة قراءة فقط لضمان الجودة — دون تعديل محتوى الأستاذات</a:t>
            </a:r>
          </a:p>
          <a:p>
            <a:pPr algn="r">
              <a:spcAft>
                <a:spcPts val="700"/>
              </a:spcAft>
              <a:defRPr sz="750" b="0">
                <a:solidFill>
                  <a:srgbClr val="334155"/>
                </a:solidFill>
                <a:latin typeface="Calibri"/>
              </a:defRPr>
            </a:pPr>
            <a:r>
              <a:t>•  قابل للتوسع مستقبلاً لأستاذات إضافيات دون إعادة تصميم</a:t>
            </a:r>
          </a:p>
        </p:txBody>
      </p:sp>
      <p:pic>
        <p:nvPicPr>
          <p:cNvPr id="14" name="04_AR_audience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7120" y="137160"/>
            <a:ext cx="54864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58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🔊 Audio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04  الفائدة والخلاصة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الفائدة والخلاصة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6858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200"/>
              </a:spcAft>
              <a:defRPr sz="900" b="1">
                <a:solidFill>
                  <a:srgbClr val="0B3C49"/>
                </a:solidFill>
                <a:latin typeface="Calibri"/>
              </a:defRPr>
            </a:pPr>
            <a:r>
              <a:t>للأستاذة</a:t>
            </a:r>
          </a:p>
          <a:p>
            <a:pPr algn="r">
              <a:spcAft>
                <a:spcPts val="1400"/>
              </a:spcAft>
              <a:defRPr sz="800" b="0">
                <a:solidFill>
                  <a:srgbClr val="334155"/>
                </a:solidFill>
                <a:latin typeface="Calibri"/>
              </a:defRPr>
            </a:pPr>
            <a:r>
              <a:t>توليد ← حفظ ← نشر ← متابعة. إدارة حضور ودرجات أعمال السنة والاختبارات لكل مقرر. سجل مع بحث وعرض وحذف وتصدير.</a:t>
            </a:r>
          </a:p>
          <a:p>
            <a:pPr algn="r">
              <a:spcAft>
                <a:spcPts val="200"/>
              </a:spcAft>
              <a:defRPr sz="900" b="1">
                <a:solidFill>
                  <a:srgbClr val="0B3C49"/>
                </a:solidFill>
                <a:latin typeface="Calibri"/>
              </a:defRPr>
            </a:pPr>
            <a:r>
              <a:t>للطالبة</a:t>
            </a:r>
          </a:p>
          <a:p>
            <a:pPr algn="r">
              <a:spcAft>
                <a:spcPts val="1400"/>
              </a:spcAft>
              <a:defRPr sz="800" b="0">
                <a:solidFill>
                  <a:srgbClr val="334155"/>
                </a:solidFill>
                <a:latin typeface="Calibri"/>
              </a:defRPr>
            </a:pPr>
            <a:r>
              <a:t>مساحة واحدة خاصة: مقرراتي ← محاضرات (مع ملخصات) ← تقييماتي (حضور + درجات). بسيطة ومهيأة للجوال.</a:t>
            </a:r>
          </a:p>
          <a:p>
            <a:pPr algn="r">
              <a:spcAft>
                <a:spcPts val="200"/>
              </a:spcAft>
              <a:defRPr sz="900" b="1">
                <a:solidFill>
                  <a:srgbClr val="0B3C49"/>
                </a:solidFill>
                <a:latin typeface="Calibri"/>
              </a:defRPr>
            </a:pPr>
            <a:r>
              <a:t>للمؤسسة</a:t>
            </a:r>
          </a:p>
          <a:p>
            <a:pPr algn="r">
              <a:spcAft>
                <a:spcPts val="1400"/>
              </a:spcAft>
              <a:defRPr sz="800" b="0">
                <a:solidFill>
                  <a:srgbClr val="334155"/>
                </a:solidFill>
                <a:latin typeface="Calibri"/>
              </a:defRPr>
            </a:pPr>
            <a:r>
              <a:t>أرشيف رقمي موحّد، قدرة ثنائية اللغة، أمان Supabase RLS + عزل service-role، دخول مستمر 90 يوماً.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749039" cy="4846320"/>
          </a:xfrm>
          <a:prstGeom prst="round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E3B23C"/>
                </a:solidFill>
                <a:latin typeface="Calibri"/>
              </a:defRPr>
            </a:pPr>
            <a:r>
              <a:t>الخلاصة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1488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FFFFFF"/>
                </a:solidFill>
                <a:latin typeface="Calibri"/>
              </a:defRPr>
            </a:pPr>
            <a:r>
              <a:t>TEACH-LAP ليس موقعاً عاماً مهملاً. هو مركز مهني خاص يحل مشكلة يومية حقيقية — وقت التحضير وملاءمة الفصل — مع احترام خصوصية الأستاذة وعدالة الطالبة. يحوّل عبئاً يدوياً إلى سير عمل احترافي من 5 دقائق.</a:t>
            </a:r>
          </a:p>
        </p:txBody>
      </p:sp>
      <p:pic>
        <p:nvPicPr>
          <p:cNvPr id="9" name="05_AR_benefits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7120" y="137160"/>
            <a:ext cx="54864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🔊 Audio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05  الفكرة وطريقة العمل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0B3C49"/>
                </a:solidFill>
                <a:latin typeface="Calibri"/>
              </a:defRPr>
            </a:pPr>
            <a:r>
              <a:t>كيف يعمل — من البداية حتى النهاية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41732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1. الدخول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الأستاذة تدخل باسم المستخدم + الكود الدائم ← كوكي موقّعة HMAC (90 يوم) ← توجه لمساحتها الخاصة (/teacher/teacher-a).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141732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2. المقررات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645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مقررات مُنشأة تلقائياً لكل مادة/سنة عبر SQL (معزولة بـ teacher_username). لكل مقرر صفحة تفاعلية (محاضرات، طالبات، سجلات).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3. الدعوة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71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الأستاذة تدعو الطالبات لكل مقرر/سنة عبر البريد ← إنشاء course_enrollments ← الطالبة ترى فقط مقررات أستاذتها.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74320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4. التوليد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الأستاذة تلصق نصاً / ترفع ملفات ← POST /api/generate ← Gemini (3.5-flash-lite + بدائل) ← JSON ← Markdown ← حفظ في lectures_history مع teacher_username.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06908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5. السجل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GET /api/history (مصفّى بـ teacher_username وتجاوز RLS) ← لوحة سجل قابلة للبحث (العدد الإجمالي، عرض، توسيع، حذف، تصدير .md/.txt) بدون Unauthorized.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406908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6. النشر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2976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الأستاذة تختار محاضرة من السجل ← POST /api/courses/[id]/lectures ← جدول course_lectures ← تظهر فوراً للطالبات المسجلات.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39496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49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7. المتابعة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623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تسجيل حضور (حاضر/غائب/متأخر/بعذر) ودرجات أعمال السنة والاختبارات لكل مقرر ← الطالبة تراها قراءة فقط في /student.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539496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349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8. الخروج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623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زر خروج في الهيدر + لوحة التحكم + صفحة الطالبة (يمسح teacher_session و student_session مع secure/sameSite) ← يعيد للدخول الصحيح.</a:t>
            </a:r>
          </a:p>
        </p:txBody>
      </p:sp>
      <p:pic>
        <p:nvPicPr>
          <p:cNvPr id="29" name="06_AR_workflow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7120" y="137160"/>
            <a:ext cx="548640" cy="3657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058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🔊 Audio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06  الفكرة التقنية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البنية التقنية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B3C49"/>
                </a:solidFill>
                <a:latin typeface="Calibri"/>
              </a:defRPr>
            </a:pPr>
            <a:r>
              <a:t>الحِزمة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097280" cy="54864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720" b="0">
                <a:solidFill>
                  <a:srgbClr val="334155"/>
                </a:solidFill>
                <a:latin typeface="Calibri"/>
              </a:defRPr>
            </a:pPr>
            <a:r>
              <a:t>•  الواجهة: Next.js 14 App Router + Tailwind + i18n (en/ar مع دعم RTL)</a:t>
            </a:r>
          </a:p>
          <a:p>
            <a:pPr algn="r">
              <a:spcAft>
                <a:spcPts val="800"/>
              </a:spcAft>
              <a:defRPr sz="720" b="0">
                <a:solidFill>
                  <a:srgbClr val="334155"/>
                </a:solidFill>
                <a:latin typeface="Calibri"/>
              </a:defRPr>
            </a:pPr>
            <a:r>
              <a:t>•  الخلفية: Supabase (Postgres + Auth + RLS) • تجاوز service-role لـ teacher_session</a:t>
            </a:r>
          </a:p>
          <a:p>
            <a:pPr algn="r">
              <a:spcAft>
                <a:spcPts val="800"/>
              </a:spcAft>
              <a:defRPr sz="720" b="0">
                <a:solidFill>
                  <a:srgbClr val="334155"/>
                </a:solidFill>
                <a:latin typeface="Calibri"/>
              </a:defRPr>
            </a:pPr>
            <a:r>
              <a:t>•  الذكاء الاصطناعي: Google Gemini API (مفتاح GEMINI_API_KEY في الخادم، مخطط JSON + عرض Markdown)</a:t>
            </a:r>
          </a:p>
          <a:p>
            <a:pPr algn="r">
              <a:spcAft>
                <a:spcPts val="800"/>
              </a:spcAft>
              <a:defRPr sz="720" b="0">
                <a:solidFill>
                  <a:srgbClr val="334155"/>
                </a:solidFill>
                <a:latin typeface="Calibri"/>
              </a:defRPr>
            </a:pPr>
            <a:r>
              <a:t>•  المصادقة: جلسة HMAC مخصصة teacher_session (username.code) — لا اعتماد على Supabase Auth للأساتذة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B3C49"/>
                </a:solidFill>
                <a:latin typeface="Calibri"/>
              </a:defRPr>
            </a:pPr>
            <a:r>
              <a:t>البيانات والأمان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1097280" cy="54864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720" b="0">
                <a:solidFill>
                  <a:srgbClr val="334155"/>
                </a:solidFill>
                <a:latin typeface="Calibri"/>
              </a:defRPr>
            </a:pPr>
            <a:r>
              <a:t>•  الجداول: courses (معزولة بـ teacher_username)، course_enrollments، course_lectures، lectures_history (teacher_username + professor_id)، attendance، coursework_grades، exam_scores</a:t>
            </a:r>
          </a:p>
          <a:p>
            <a:pPr algn="r">
              <a:spcAft>
                <a:spcPts val="800"/>
              </a:spcAft>
              <a:defRPr sz="720" b="0">
                <a:solidFill>
                  <a:srgbClr val="334155"/>
                </a:solidFill>
                <a:latin typeface="Calibri"/>
              </a:defRPr>
            </a:pPr>
            <a:r>
              <a:t>•  سياسات RLS + دوال is_enrolled_in_course() / is_teacher_of_course() — التجاوز فقط لـ teacher_username الموثق</a:t>
            </a:r>
          </a:p>
          <a:p>
            <a:pPr algn="r">
              <a:spcAft>
                <a:spcPts val="800"/>
              </a:spcAft>
              <a:defRPr sz="720" b="0">
                <a:solidFill>
                  <a:srgbClr val="334155"/>
                </a:solidFill>
                <a:latin typeface="Calibri"/>
              </a:defRPr>
            </a:pPr>
            <a:r>
              <a:t>•  Middleware: يحمي /teacher و /admin و /courses/[id] — يسمح بـ /api/auth/* علناً</a:t>
            </a:r>
          </a:p>
          <a:p>
            <a:pPr algn="r">
              <a:spcAft>
                <a:spcPts val="800"/>
              </a:spcAft>
              <a:defRPr sz="720" b="0">
                <a:solidFill>
                  <a:srgbClr val="334155"/>
                </a:solidFill>
                <a:latin typeface="Calibri"/>
              </a:defRPr>
            </a:pPr>
            <a:r>
              <a:t>•  البناء: 15 مساراً + Middleware 57.1kB — بناء إنتاج موثق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035040"/>
            <a:ext cx="11064240" cy="502920"/>
          </a:xfrm>
          <a:prstGeom prst="roundRect">
            <a:avLst/>
          </a:prstGeom>
          <a:solidFill>
            <a:srgbClr val="FFF8E1"/>
          </a:solidFill>
          <a:ln>
            <a:solidFill>
              <a:srgbClr val="F0E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80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7C5A0A"/>
                </a:solidFill>
                <a:latin typeface="Calibri"/>
              </a:defRPr>
            </a:pPr>
            <a:r>
              <a:t>التهيئة: 1) تشغيل whitelist.sql ← lectures_history.sql ← step5_lms.sql  2) تشغيل enas_teacher_setup.sql و eman_teacher_setup.sql  3) تشغيل fix_lectures_history_teacher_username.sql  4) ضبط TEACHER_SESSION_SECRET + GEMINI_API_KEY في Vercel</a:t>
            </a:r>
          </a:p>
        </p:txBody>
      </p:sp>
      <p:pic>
        <p:nvPicPr>
          <p:cNvPr id="13" name="07_AR_tech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7120" y="137160"/>
            <a:ext cx="54864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🔊 Audio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07  معاينة حيّة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الشاشات والتجربة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577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035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/ الصفحة الرئيسية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الواجهة: نموذج توليد (عنوان + نص + ملفات) ← إعدادات Gemini (اللغة) ← معاينة Markdown حيّة + تصدير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577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1600200"/>
            <a:ext cx="53035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27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/teacher/[username]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574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لوحة التحكم: بانر ترحيب، مواد حسب السمستر مع شارات الجدول، شبكة المقررات المنشأة، لوحة الدعوة، أدوات سريعة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577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4023360"/>
            <a:ext cx="53035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50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/courses/[id]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صفحة المقرر: 5 تبويبات — المحاضرات (نشر/إلغاء)، الطالبات (إضافة/إزالة)، الحضور، أعمال السنة، الاختبارات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5577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4023360"/>
            <a:ext cx="53035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050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/student  و  الهيدر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4805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عرض الطالبة: مقرراتي مع محاضرات للقراءة + درجات. هيدر عام: تسجيل خروج ذكي حسب الدور (أستاذة/طالبة)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🔇 Preview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نسبة المشروع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الفكرة التقنية للمشروع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2194560"/>
            <a:ext cx="1371600" cy="73152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E3B23C"/>
                </a:solidFill>
                <a:latin typeface="Calibri"/>
              </a:defRPr>
            </a:pPr>
            <a:r>
              <a:t>أ. إيناس مصباح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قسم اللغة الإنجليزية — كلية التربية — جامعة صبراتة</a:t>
            </a:r>
            <a:br/>
            <a:r>
              <a:t>صاحبة الفكرة والمشرفة على النموذج البيداغوجي وهيكلة البيانات وسير عمل الذكاء الاصطناعي لـ TEACH-LAP.</a:t>
            </a:r>
            <a:br/>
            <a:r>
              <a:t>نسخة خاصة: أستاذتان، مساحات معزولة، ذكاء اصطناعي ثنائي اللغة مؤسس على الفصل المعياري.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AABBCC"/>
                </a:solidFill>
                <a:latin typeface="Calibri"/>
              </a:defRPr>
            </a:pPr>
            <a:r>
              <a:t>هذا العرض لا يحتوي على بيانات دخول. يُمنح الوصول فردياً عبر اسم المستخدم + الكود الدائم.</a:t>
            </a:r>
          </a:p>
        </p:txBody>
      </p:sp>
      <p:pic>
        <p:nvPicPr>
          <p:cNvPr id="9" name="08_AR_closing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47120" y="137160"/>
            <a:ext cx="54864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E3B23C"/>
                </a:solidFill>
                <a:latin typeface="Calibri"/>
              </a:defRPr>
            </a:pPr>
            <a:r>
              <a:t>🔊 Audio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