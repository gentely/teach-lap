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3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326880" y="411480"/>
            <a:ext cx="1463040" cy="320040"/>
          </a:xfrm>
          <a:prstGeom prst="roundRect">
            <a:avLst/>
          </a:prstGeom>
          <a:solidFill>
            <a:srgbClr val="E3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B3C49"/>
                </a:solidFill>
                <a:latin typeface="Calibri"/>
              </a:defRPr>
            </a:pPr>
            <a:r>
              <a:t>Next.js  •  Supabase  •  Gemini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E3B23C"/>
                </a:solidFill>
                <a:latin typeface="Calibri"/>
              </a:defRPr>
            </a:pPr>
            <a:r>
              <a:t>SABRATHA UNIVERSITY  •  FACULTY OF EDUCATION  •  ENGLISH DEPARTMENT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 i="0">
                <a:solidFill>
                  <a:srgbClr val="FFFFFF"/>
                </a:solidFill>
                <a:latin typeface="Calibri"/>
              </a:defRPr>
            </a:pPr>
            <a:r>
              <a:t>TEACH-LAP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FFF0C0"/>
                </a:solidFill>
                <a:latin typeface="Calibri"/>
              </a:defRPr>
            </a:pPr>
            <a:r>
              <a:t>AI-Powered Teaching Assistant for ELT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100" b="0" i="0">
                <a:solidFill>
                  <a:srgbClr val="FFFFFF"/>
                </a:solidFill>
                <a:latin typeface="Calibri"/>
              </a:defRPr>
            </a:pPr>
            <a:r>
              <a:t>Transforming lesson preparation from hours to minutes — private, secure, and tailored to the Standard Classroom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AABBCC"/>
                </a:solidFill>
                <a:latin typeface="Calibri"/>
              </a:defRPr>
            </a:pPr>
            <a:r>
              <a:t>Bilingual Platform  •  EN / AR  •  2025 — 2026</a:t>
            </a:r>
          </a:p>
        </p:txBody>
      </p:sp>
      <p:sp>
        <p:nvSpPr>
          <p:cNvPr id="9" name="Oval 8"/>
          <p:cNvSpPr/>
          <p:nvPr/>
        </p:nvSpPr>
        <p:spPr>
          <a:xfrm>
            <a:off x="9601200" y="2926080"/>
            <a:ext cx="1280160" cy="1280160"/>
          </a:xfrm>
          <a:prstGeom prst="ellipse">
            <a:avLst/>
          </a:prstGeom>
          <a:solidFill>
            <a:srgbClr val="E3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400" b="1">
                <a:solidFill>
                  <a:srgbClr val="0B3C49"/>
                </a:solidFill>
                <a:latin typeface="Calibri"/>
              </a:defRPr>
            </a:pPr>
            <a:r>
              <a:t>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B3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14657A"/>
                </a:solidFill>
                <a:latin typeface="Calibri"/>
              </a:defRPr>
            </a:pPr>
            <a:r>
              <a:t>01 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B3C49"/>
                </a:solidFill>
                <a:latin typeface="Calibri"/>
              </a:defRPr>
            </a:pPr>
            <a:r>
              <a:t>What is TEACH-LAP?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69494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800"/>
              </a:spcAft>
              <a:defRPr sz="900" b="0" i="0">
                <a:solidFill>
                  <a:srgbClr val="334155"/>
                </a:solidFill>
                <a:latin typeface="Calibri"/>
              </a:defRPr>
            </a:pPr>
            <a:r>
              <a:t>•  A private web platform that converts raw texts and documents into structured, academic lectures in seconds</a:t>
            </a:r>
          </a:p>
          <a:p>
            <a:pPr algn="l">
              <a:spcAft>
                <a:spcPts val="800"/>
              </a:spcAft>
              <a:defRPr sz="900" b="0" i="0">
                <a:solidFill>
                  <a:srgbClr val="334155"/>
                </a:solidFill>
                <a:latin typeface="Calibri"/>
              </a:defRPr>
            </a:pPr>
            <a:r>
              <a:t>•  Powered by Gemini AI — generates: summary (220-350 words), core concepts, key takeaways, classroom applications, scenario Q&amp;A, reflection tasks &amp; discussion questions</a:t>
            </a:r>
          </a:p>
          <a:p>
            <a:pPr algn="l">
              <a:spcAft>
                <a:spcPts val="800"/>
              </a:spcAft>
              <a:defRPr sz="900" b="0" i="0">
                <a:solidFill>
                  <a:srgbClr val="334155"/>
                </a:solidFill>
                <a:latin typeface="Calibri"/>
              </a:defRPr>
            </a:pPr>
            <a:r>
              <a:t>•  Every generation is auto-saved to a secure, teacher-isolated history (Supabase) and can be exported as Markdown / .txt</a:t>
            </a:r>
          </a:p>
          <a:p>
            <a:pPr algn="l">
              <a:spcAft>
                <a:spcPts val="800"/>
              </a:spcAft>
              <a:defRPr sz="900" b="0" i="0">
                <a:solidFill>
                  <a:srgbClr val="334155"/>
                </a:solidFill>
                <a:latin typeface="Calibri"/>
              </a:defRPr>
            </a:pPr>
            <a:r>
              <a:t>•  Bilingual output: English, Arabic, or Bilingual — grounded in SAMR / TPACK and the Libyan Standard Classroom reality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371600"/>
            <a:ext cx="3566160" cy="3931920"/>
          </a:xfrm>
          <a:prstGeom prst="roundRect">
            <a:avLst/>
          </a:prstGeom>
          <a:solidFill>
            <a:srgbClr val="F2F9FB"/>
          </a:solidFill>
          <a:ln>
            <a:solidFill>
              <a:srgbClr val="E6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6459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B3C49"/>
                </a:solidFill>
                <a:latin typeface="Calibri"/>
              </a:defRPr>
            </a:pPr>
            <a:r>
              <a:t>Core Promise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210312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1000"/>
              </a:spcAft>
              <a:defRPr sz="900" b="0" i="0">
                <a:solidFill>
                  <a:srgbClr val="334155"/>
                </a:solidFill>
                <a:latin typeface="Calibri"/>
              </a:defRPr>
            </a:pPr>
            <a:r>
              <a:t>✓  Large classes? Supported.</a:t>
            </a:r>
          </a:p>
          <a:p>
            <a:pPr algn="l">
              <a:spcAft>
                <a:spcPts val="1000"/>
              </a:spcAft>
              <a:defRPr sz="900" b="0" i="0">
                <a:solidFill>
                  <a:srgbClr val="334155"/>
                </a:solidFill>
                <a:latin typeface="Calibri"/>
              </a:defRPr>
            </a:pPr>
            <a:r>
              <a:t>✓  Limited devices? Optimized for smartphones.</a:t>
            </a:r>
          </a:p>
          <a:p>
            <a:pPr algn="l">
              <a:spcAft>
                <a:spcPts val="1000"/>
              </a:spcAft>
              <a:defRPr sz="900" b="0" i="0">
                <a:solidFill>
                  <a:srgbClr val="334155"/>
                </a:solidFill>
                <a:latin typeface="Calibri"/>
              </a:defRPr>
            </a:pPr>
            <a:r>
              <a:t>✓  Intermittent internet? Lightweight &amp; fast.</a:t>
            </a:r>
          </a:p>
          <a:p>
            <a:pPr algn="l">
              <a:spcAft>
                <a:spcPts val="1000"/>
              </a:spcAft>
              <a:defRPr sz="900" b="0" i="0">
                <a:solidFill>
                  <a:srgbClr val="334155"/>
                </a:solidFill>
                <a:latin typeface="Calibri"/>
              </a:defRPr>
            </a:pPr>
            <a:r>
              <a:t>✓  Teacher privacy? 100% isolated spaces.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B3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14657A"/>
                </a:solidFill>
                <a:latin typeface="Calibri"/>
              </a:defRPr>
            </a:pPr>
            <a:r>
              <a:t>02  IMPORTANCE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B3C49"/>
                </a:solidFill>
                <a:latin typeface="Calibri"/>
              </a:defRPr>
            </a:pPr>
            <a:r>
              <a:t>Why It Matters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57784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B3C49"/>
                </a:solidFill>
                <a:latin typeface="Calibri"/>
              </a:defRPr>
            </a:pPr>
            <a:r>
              <a:t>⏱ SAVE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334155"/>
                </a:solidFill>
                <a:latin typeface="Calibri"/>
              </a:defRPr>
            </a:pPr>
            <a:r>
              <a:t>Cuts preparation from 3-4 hours to under 5 minutes. Teachers focus on teaching, not formatting.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73152" cy="2240280"/>
          </a:xfrm>
          <a:prstGeom prst="rect">
            <a:avLst/>
          </a:prstGeom>
          <a:solidFill>
            <a:srgbClr val="E3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0" y="1463040"/>
            <a:ext cx="557784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691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B3C49"/>
                </a:solidFill>
                <a:latin typeface="Calibri"/>
              </a:defRPr>
            </a:pPr>
            <a:r>
              <a:t>🎯 QUALITY &amp; CONSISTENCY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14884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334155"/>
                </a:solidFill>
                <a:latin typeface="Calibri"/>
              </a:defRPr>
            </a:pPr>
            <a:r>
              <a:t>Every lecture follows the same academic rigor: SAMR/TPACK links, ELT skill tags, Libyan context fit.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463040"/>
            <a:ext cx="73152" cy="2240280"/>
          </a:xfrm>
          <a:prstGeom prst="rect">
            <a:avLst/>
          </a:prstGeom>
          <a:solidFill>
            <a:srgbClr val="E3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4023360"/>
            <a:ext cx="557784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251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B3C49"/>
                </a:solidFill>
                <a:latin typeface="Calibri"/>
              </a:defRPr>
            </a:pPr>
            <a:r>
              <a:t>🔒 PRIVACY BY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70916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334155"/>
                </a:solidFill>
                <a:latin typeface="Calibri"/>
              </a:defRPr>
            </a:pPr>
            <a:r>
              <a:t>No public marketplace. Each teacher sees only her courses, students, and history. Service-role bypass ensures isolation.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023360"/>
            <a:ext cx="73152" cy="2240280"/>
          </a:xfrm>
          <a:prstGeom prst="rect">
            <a:avLst/>
          </a:prstGeom>
          <a:solidFill>
            <a:srgbClr val="E3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0" y="4023360"/>
            <a:ext cx="557784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4251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B3C49"/>
                </a:solidFill>
                <a:latin typeface="Calibri"/>
              </a:defRPr>
            </a:pPr>
            <a:r>
              <a:t>📱 REAL CLASSROOM 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70916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334155"/>
                </a:solidFill>
                <a:latin typeface="Calibri"/>
              </a:defRPr>
            </a:pPr>
            <a:r>
              <a:t>Designed for Standard Classroom — large groups, smartphones only, low bandwidth. No lab required.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4023360"/>
            <a:ext cx="73152" cy="2240280"/>
          </a:xfrm>
          <a:prstGeom prst="rect">
            <a:avLst/>
          </a:prstGeom>
          <a:solidFill>
            <a:srgbClr val="E3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B3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14657A"/>
                </a:solidFill>
                <a:latin typeface="Calibri"/>
              </a:defRPr>
            </a:pPr>
            <a:r>
              <a:t>03  TARGET AUDIENCE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B3C49"/>
                </a:solidFill>
                <a:latin typeface="Calibri"/>
              </a:defRPr>
            </a:pPr>
            <a:r>
              <a:t>Who Is It For?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3657600" cy="411480"/>
          </a:xfrm>
          <a:prstGeom prst="roundRect">
            <a:avLst/>
          </a:prstGeom>
          <a:solidFill>
            <a:srgbClr val="0B3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E3B23C"/>
                </a:solidFill>
                <a:latin typeface="Calibri"/>
              </a:defRPr>
            </a:pPr>
            <a:r>
              <a:t>PRIMARY USERS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11680"/>
            <a:ext cx="3383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700"/>
              </a:spcAft>
              <a:defRPr sz="750" b="0" i="0">
                <a:solidFill>
                  <a:srgbClr val="334155"/>
                </a:solidFill>
                <a:latin typeface="Calibri"/>
              </a:defRPr>
            </a:pPr>
            <a:r>
              <a:t>•  Two dedicated teachers with fully isolated workspaces — each with own login, courses by Year/Semester, and student cohorts</a:t>
            </a:r>
          </a:p>
          <a:p>
            <a:pPr algn="l">
              <a:spcAft>
                <a:spcPts val="700"/>
              </a:spcAft>
              <a:defRPr sz="750" b="0" i="0">
                <a:solidFill>
                  <a:srgbClr val="334155"/>
                </a:solidFill>
                <a:latin typeface="Calibri"/>
              </a:defRPr>
            </a:pPr>
            <a:r>
              <a:t>•  Teacher A: 4 active subjects (Years 1-4) — e.g., CALL, Conversation, ELT Methodology, Phonology</a:t>
            </a:r>
          </a:p>
          <a:p>
            <a:pPr algn="l">
              <a:spcAft>
                <a:spcPts val="700"/>
              </a:spcAft>
              <a:defRPr sz="750" b="0" i="0">
                <a:solidFill>
                  <a:srgbClr val="334155"/>
                </a:solidFill>
                <a:latin typeface="Calibri"/>
              </a:defRPr>
            </a:pPr>
            <a:r>
              <a:t>•  Teacher B: 3 active subjects (Years 1 &amp; 4) — e.g., Writing, Literature &amp; Micro-Teaching</a:t>
            </a:r>
          </a:p>
          <a:p>
            <a:pPr algn="l">
              <a:spcAft>
                <a:spcPts val="700"/>
              </a:spcAft>
              <a:defRPr sz="750" b="0" i="0">
                <a:solidFill>
                  <a:srgbClr val="334155"/>
                </a:solidFill>
                <a:latin typeface="Calibri"/>
              </a:defRPr>
            </a:pPr>
            <a:r>
              <a:t>•  Schedules embedded per subject (Day + Lecture Period + Time)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417320"/>
            <a:ext cx="3657600" cy="411480"/>
          </a:xfrm>
          <a:prstGeom prst="roundRect">
            <a:avLst/>
          </a:prstGeom>
          <a:solidFill>
            <a:srgbClr val="0B3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4630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E3B23C"/>
                </a:solidFill>
                <a:latin typeface="Calibri"/>
              </a:defRPr>
            </a:pPr>
            <a:r>
              <a:t>STUDENTS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0"/>
            <a:ext cx="3383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700"/>
              </a:spcAft>
              <a:defRPr sz="750" b="0" i="0">
                <a:solidFill>
                  <a:srgbClr val="334155"/>
                </a:solidFill>
                <a:latin typeface="Calibri"/>
              </a:defRPr>
            </a:pPr>
            <a:r>
              <a:t>•  Invited per course/year by their teacher via email — no self-registration chaos</a:t>
            </a:r>
          </a:p>
          <a:p>
            <a:pPr algn="l">
              <a:spcAft>
                <a:spcPts val="700"/>
              </a:spcAft>
              <a:defRPr sz="750" b="0" i="0">
                <a:solidFill>
                  <a:srgbClr val="334155"/>
                </a:solidFill>
                <a:latin typeface="Calibri"/>
              </a:defRPr>
            </a:pPr>
            <a:r>
              <a:t>•  View published lectures, save summaries (.md/.txt), and see attendance &amp; grades (read-only)</a:t>
            </a:r>
          </a:p>
          <a:p>
            <a:pPr algn="l">
              <a:spcAft>
                <a:spcPts val="700"/>
              </a:spcAft>
              <a:defRPr sz="750" b="0" i="0">
                <a:solidFill>
                  <a:srgbClr val="334155"/>
                </a:solidFill>
                <a:latin typeface="Calibri"/>
              </a:defRPr>
            </a:pPr>
            <a:r>
              <a:t>•  No Gemini access — consumption and reflection only, keeping assessment fair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417320"/>
            <a:ext cx="3657600" cy="411480"/>
          </a:xfrm>
          <a:prstGeom prst="roundRect">
            <a:avLst/>
          </a:prstGeom>
          <a:solidFill>
            <a:srgbClr val="0B3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14630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E3B23C"/>
                </a:solidFill>
                <a:latin typeface="Calibri"/>
              </a:defRPr>
            </a:pPr>
            <a:r>
              <a:t>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2011680"/>
            <a:ext cx="3383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700"/>
              </a:spcAft>
              <a:defRPr sz="750" b="0" i="0">
                <a:solidFill>
                  <a:srgbClr val="334155"/>
                </a:solidFill>
                <a:latin typeface="Calibri"/>
              </a:defRPr>
            </a:pPr>
            <a:r>
              <a:t>•  Read-only oversight for quality assurance — no editing of teacher content</a:t>
            </a:r>
          </a:p>
          <a:p>
            <a:pPr algn="l">
              <a:spcAft>
                <a:spcPts val="700"/>
              </a:spcAft>
              <a:defRPr sz="750" b="0" i="0">
                <a:solidFill>
                  <a:srgbClr val="334155"/>
                </a:solidFill>
                <a:latin typeface="Calibri"/>
              </a:defRPr>
            </a:pPr>
            <a:r>
              <a:t>•  Future-ready: scalable to more teachers without redesign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B3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14657A"/>
                </a:solidFill>
                <a:latin typeface="Calibri"/>
              </a:defRPr>
            </a:pPr>
            <a:r>
              <a:t>04  BENEFITS &amp;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B3C49"/>
                </a:solidFill>
                <a:latin typeface="Calibri"/>
              </a:defRPr>
            </a:pPr>
            <a:r>
              <a:t>Benefits &amp;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68580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200"/>
              </a:spcAft>
              <a:defRPr sz="900" b="1" i="0">
                <a:solidFill>
                  <a:srgbClr val="0B3C49"/>
                </a:solidFill>
                <a:latin typeface="Calibri"/>
              </a:defRPr>
            </a:pPr>
            <a:r>
              <a:t>FOR TEACHERS</a:t>
            </a:r>
          </a:p>
          <a:p>
            <a:pPr algn="l">
              <a:spcAft>
                <a:spcPts val="1400"/>
              </a:spcAft>
              <a:defRPr sz="800" b="0" i="0">
                <a:solidFill>
                  <a:srgbClr val="334155"/>
                </a:solidFill>
                <a:latin typeface="Calibri"/>
              </a:defRPr>
            </a:pPr>
            <a:r>
              <a:t>Generate → Save → Publish → Track. Manage attendance, coursework &amp; exam scores per course. History with search, view, delete &amp; export.</a:t>
            </a:r>
          </a:p>
          <a:p>
            <a:pPr algn="l">
              <a:spcAft>
                <a:spcPts val="200"/>
              </a:spcAft>
              <a:defRPr sz="900" b="1" i="0">
                <a:solidFill>
                  <a:srgbClr val="0B3C49"/>
                </a:solidFill>
                <a:latin typeface="Calibri"/>
              </a:defRPr>
            </a:pPr>
            <a:r>
              <a:t>FOR STUDENTS</a:t>
            </a:r>
          </a:p>
          <a:p>
            <a:pPr algn="l">
              <a:spcAft>
                <a:spcPts val="1400"/>
              </a:spcAft>
              <a:defRPr sz="800" b="0" i="0">
                <a:solidFill>
                  <a:srgbClr val="334155"/>
                </a:solidFill>
                <a:latin typeface="Calibri"/>
              </a:defRPr>
            </a:pPr>
            <a:r>
              <a:t>One private space: My Courses → Lectures (with summaries) → My Grades (attendance + scores). Simple, mobile-first.</a:t>
            </a:r>
          </a:p>
          <a:p>
            <a:pPr algn="l">
              <a:spcAft>
                <a:spcPts val="200"/>
              </a:spcAft>
              <a:defRPr sz="900" b="1" i="0">
                <a:solidFill>
                  <a:srgbClr val="0B3C49"/>
                </a:solidFill>
                <a:latin typeface="Calibri"/>
              </a:defRPr>
            </a:pPr>
            <a:r>
              <a:t>FOR THE INSTITUTION</a:t>
            </a:r>
          </a:p>
          <a:p>
            <a:pPr algn="l">
              <a:spcAft>
                <a:spcPts val="1400"/>
              </a:spcAft>
              <a:defRPr sz="800" b="0" i="0">
                <a:solidFill>
                  <a:srgbClr val="334155"/>
                </a:solidFill>
                <a:latin typeface="Calibri"/>
              </a:defRPr>
            </a:pPr>
            <a:r>
              <a:t>Standardized digital archive, bilingual capability, secure Supabase RLS + service-role isolation, 90-day persistent login.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417320"/>
            <a:ext cx="3749039" cy="4846320"/>
          </a:xfrm>
          <a:prstGeom prst="roundRect">
            <a:avLst/>
          </a:prstGeom>
          <a:solidFill>
            <a:srgbClr val="0B3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E3B23C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2148840"/>
            <a:ext cx="3200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 i="0">
                <a:solidFill>
                  <a:srgbClr val="FFFFFF"/>
                </a:solidFill>
                <a:latin typeface="Calibri"/>
              </a:defRPr>
            </a:pPr>
            <a:r>
              <a:t>TEACH-LAP is not a generic public site that gets neglected. It is a private, professional hub that solves a real daily problem — preparation time and classroom relevance — while respecting teacher privacy and student fairness. It turns a manual burden into a 5-minute professional workflow.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B3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14657A"/>
                </a:solidFill>
                <a:latin typeface="Calibri"/>
              </a:defRPr>
            </a:pPr>
            <a:r>
              <a:t>05  IDEA &amp;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0B3C49"/>
                </a:solidFill>
                <a:latin typeface="Calibri"/>
              </a:defRPr>
            </a:pPr>
            <a:r>
              <a:t>How It Works — End to End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417320"/>
            <a:ext cx="411480" cy="411480"/>
          </a:xfrm>
          <a:prstGeom prst="ellipse">
            <a:avLst/>
          </a:prstGeom>
          <a:solidFill>
            <a:srgbClr val="E3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B3C49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0B3C49"/>
                </a:solidFill>
                <a:latin typeface="Calibri"/>
              </a:defRPr>
            </a:pPr>
            <a:r>
              <a:t>1. LOGIN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334155"/>
                </a:solidFill>
                <a:latin typeface="Calibri"/>
              </a:defRPr>
            </a:pPr>
            <a:r>
              <a:t>Teacher logs in with username + permanent code → persistent HMAC-signed cookie (90 days) → redirected to her private dashboard (/teacher/teacher-a).</a:t>
            </a:r>
          </a:p>
        </p:txBody>
      </p:sp>
      <p:sp>
        <p:nvSpPr>
          <p:cNvPr id="8" name="Oval 7"/>
          <p:cNvSpPr/>
          <p:nvPr/>
        </p:nvSpPr>
        <p:spPr>
          <a:xfrm>
            <a:off x="6400800" y="1417320"/>
            <a:ext cx="411480" cy="411480"/>
          </a:xfrm>
          <a:prstGeom prst="ellipse">
            <a:avLst/>
          </a:prstGeom>
          <a:solidFill>
            <a:srgbClr val="E3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B3C49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13716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0B3C49"/>
                </a:solidFill>
                <a:latin typeface="Calibri"/>
              </a:defRPr>
            </a:pPr>
            <a:r>
              <a:t>2. COURSES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64592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334155"/>
                </a:solidFill>
                <a:latin typeface="Calibri"/>
              </a:defRPr>
            </a:pPr>
            <a:r>
              <a:t>Courses auto-seeded per subject/year via SQL (teacher_username isolated). Each course has its own interactive page (lectures, students, records).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743200"/>
            <a:ext cx="411480" cy="411480"/>
          </a:xfrm>
          <a:prstGeom prst="ellipse">
            <a:avLst/>
          </a:prstGeom>
          <a:solidFill>
            <a:srgbClr val="E3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B3C49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6974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0B3C49"/>
                </a:solidFill>
                <a:latin typeface="Calibri"/>
              </a:defRPr>
            </a:pPr>
            <a:r>
              <a:t>3. INVITE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9718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334155"/>
                </a:solidFill>
                <a:latin typeface="Calibri"/>
              </a:defRPr>
            </a:pPr>
            <a:r>
              <a:t>Teacher invites students per course/year by email → course_enrollments created → students see only their teacher’s courses.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0" y="2743200"/>
            <a:ext cx="411480" cy="411480"/>
          </a:xfrm>
          <a:prstGeom prst="ellipse">
            <a:avLst/>
          </a:prstGeom>
          <a:solidFill>
            <a:srgbClr val="E3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B3C49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6974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0B3C49"/>
                </a:solidFill>
                <a:latin typeface="Calibri"/>
              </a:defRPr>
            </a:pPr>
            <a:r>
              <a:t>4. GENERATE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9718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334155"/>
                </a:solidFill>
                <a:latin typeface="Calibri"/>
              </a:defRPr>
            </a:pPr>
            <a:r>
              <a:t>Teacher pastes text / uploads files → POST /api/generate → Gemini (gemini-3.5-flash-lite + fallbacks) → JSON → Markdown → saved to lectures_history with teacher_username.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4069080"/>
            <a:ext cx="411480" cy="411480"/>
          </a:xfrm>
          <a:prstGeom prst="ellipse">
            <a:avLst/>
          </a:prstGeom>
          <a:solidFill>
            <a:srgbClr val="E3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B3C49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0233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0B3C49"/>
                </a:solidFill>
                <a:latin typeface="Calibri"/>
              </a:defRPr>
            </a:pPr>
            <a:r>
              <a:t>5. HISTORY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29768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334155"/>
                </a:solidFill>
                <a:latin typeface="Calibri"/>
              </a:defRPr>
            </a:pPr>
            <a:r>
              <a:t>GET /api/history (teacher_username filtered, bypass RLS) → searchable history panel (total count, view, expand, delete, export .md/.txt). No Unauthorized.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0" y="4069080"/>
            <a:ext cx="411480" cy="411480"/>
          </a:xfrm>
          <a:prstGeom prst="ellipse">
            <a:avLst/>
          </a:prstGeom>
          <a:solidFill>
            <a:srgbClr val="E3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B3C49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40233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0B3C49"/>
                </a:solidFill>
                <a:latin typeface="Calibri"/>
              </a:defRPr>
            </a:pPr>
            <a:r>
              <a:t>6. PUBLISH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429768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334155"/>
                </a:solidFill>
                <a:latin typeface="Calibri"/>
              </a:defRPr>
            </a:pPr>
            <a:r>
              <a:t>Teacher selects lecture from history → POST /api/courses/[id]/lectures → course_lectures junction → visible instantly to enrolled students.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" y="5394960"/>
            <a:ext cx="411480" cy="411480"/>
          </a:xfrm>
          <a:prstGeom prst="ellipse">
            <a:avLst/>
          </a:prstGeom>
          <a:solidFill>
            <a:srgbClr val="E3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B3C49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3492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0B3C49"/>
                </a:solidFill>
                <a:latin typeface="Calibri"/>
              </a:defRPr>
            </a:pPr>
            <a:r>
              <a:t>7. TRACK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62356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334155"/>
                </a:solidFill>
                <a:latin typeface="Calibri"/>
              </a:defRPr>
            </a:pPr>
            <a:r>
              <a:t>Record attendance (present/absent/late/excused), coursework &amp; exams per course → students see grades read-only in /student.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0" y="5394960"/>
            <a:ext cx="411480" cy="411480"/>
          </a:xfrm>
          <a:prstGeom prst="ellipse">
            <a:avLst/>
          </a:prstGeom>
          <a:solidFill>
            <a:srgbClr val="E3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B3C49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53492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0B3C49"/>
                </a:solidFill>
                <a:latin typeface="Calibri"/>
              </a:defRPr>
            </a:pPr>
            <a:r>
              <a:t>8. LOGOUT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562356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334155"/>
                </a:solidFill>
                <a:latin typeface="Calibri"/>
              </a:defRPr>
            </a:pPr>
            <a:r>
              <a:t>Header + Dashboard logout clears both teacher_session &amp; student_session (secure/sameSite) → redirects to correct login.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B3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14657A"/>
                </a:solidFill>
                <a:latin typeface="Calibri"/>
              </a:defRPr>
            </a:pPr>
            <a:r>
              <a:t>06  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B3C49"/>
                </a:solidFill>
                <a:latin typeface="Calibri"/>
              </a:defRPr>
            </a:pPr>
            <a:r>
              <a:t>Technical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0B3C49"/>
                </a:solidFill>
                <a:latin typeface="Calibri"/>
              </a:defRPr>
            </a:pPr>
            <a:r>
              <a:t>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1097280" cy="54864"/>
          </a:xfrm>
          <a:prstGeom prst="rect">
            <a:avLst/>
          </a:prstGeom>
          <a:solidFill>
            <a:srgbClr val="E3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800"/>
              </a:spcAft>
              <a:defRPr sz="720" b="0" i="0">
                <a:solidFill>
                  <a:srgbClr val="334155"/>
                </a:solidFill>
                <a:latin typeface="Calibri"/>
              </a:defRPr>
            </a:pPr>
            <a:r>
              <a:t>•  Frontend: Next.js 14 App Router + Tailwind + i18n (en/ar, RTL aware)</a:t>
            </a:r>
          </a:p>
          <a:p>
            <a:pPr algn="l">
              <a:spcAft>
                <a:spcPts val="800"/>
              </a:spcAft>
              <a:defRPr sz="720" b="0" i="0">
                <a:solidFill>
                  <a:srgbClr val="334155"/>
                </a:solidFill>
                <a:latin typeface="Calibri"/>
              </a:defRPr>
            </a:pPr>
            <a:r>
              <a:t>•  Backend: Supabase (Postgres + Auth + RLS) • Service-role bypass for teacher_session</a:t>
            </a:r>
          </a:p>
          <a:p>
            <a:pPr algn="l">
              <a:spcAft>
                <a:spcPts val="800"/>
              </a:spcAft>
              <a:defRPr sz="720" b="0" i="0">
                <a:solidFill>
                  <a:srgbClr val="334155"/>
                </a:solidFill>
                <a:latin typeface="Calibri"/>
              </a:defRPr>
            </a:pPr>
            <a:r>
              <a:t>•  AI: Google Gemini API (server-side GEMINI_API_KEY, JSON schema + Markdown render)</a:t>
            </a:r>
          </a:p>
          <a:p>
            <a:pPr algn="l">
              <a:spcAft>
                <a:spcPts val="800"/>
              </a:spcAft>
              <a:defRPr sz="720" b="0" i="0">
                <a:solidFill>
                  <a:srgbClr val="334155"/>
                </a:solidFill>
                <a:latin typeface="Calibri"/>
              </a:defRPr>
            </a:pPr>
            <a:r>
              <a:t>•  Auth: Custom HMAC teacher_session (username.code) — no Supabase Auth dependency for teachers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173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0B3C49"/>
                </a:solidFill>
                <a:latin typeface="Calibri"/>
              </a:defRPr>
            </a:pPr>
            <a:r>
              <a:t>DATA &amp; SECURITY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737360"/>
            <a:ext cx="1097280" cy="54864"/>
          </a:xfrm>
          <a:prstGeom prst="rect">
            <a:avLst/>
          </a:prstGeom>
          <a:solidFill>
            <a:srgbClr val="E3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800"/>
              </a:spcAft>
              <a:defRPr sz="720" b="0" i="0">
                <a:solidFill>
                  <a:srgbClr val="334155"/>
                </a:solidFill>
                <a:latin typeface="Calibri"/>
              </a:defRPr>
            </a:pPr>
            <a:r>
              <a:t>•  Tables: courses (teacher_username isolated), course_enrollments, course_lectures, lectures_history (teacher_username + professor_id), attendance, coursework_grades, exam_scores</a:t>
            </a:r>
          </a:p>
          <a:p>
            <a:pPr algn="l">
              <a:spcAft>
                <a:spcPts val="800"/>
              </a:spcAft>
              <a:defRPr sz="720" b="0" i="0">
                <a:solidFill>
                  <a:srgbClr val="334155"/>
                </a:solidFill>
                <a:latin typeface="Calibri"/>
              </a:defRPr>
            </a:pPr>
            <a:r>
              <a:t>•  RLS policies + is_enrolled_in_course() / is_teacher_of_course() helpers — bypass only for verified teacher_username</a:t>
            </a:r>
          </a:p>
          <a:p>
            <a:pPr algn="l">
              <a:spcAft>
                <a:spcPts val="800"/>
              </a:spcAft>
              <a:defRPr sz="720" b="0" i="0">
                <a:solidFill>
                  <a:srgbClr val="334155"/>
                </a:solidFill>
                <a:latin typeface="Calibri"/>
              </a:defRPr>
            </a:pPr>
            <a:r>
              <a:t>•  Middleware: protects /teacher, /admin, /courses/[id] — allows /api/auth/* public</a:t>
            </a:r>
          </a:p>
          <a:p>
            <a:pPr algn="l">
              <a:spcAft>
                <a:spcPts val="800"/>
              </a:spcAft>
              <a:defRPr sz="720" b="0" i="0">
                <a:solidFill>
                  <a:srgbClr val="334155"/>
                </a:solidFill>
                <a:latin typeface="Calibri"/>
              </a:defRPr>
            </a:pPr>
            <a:r>
              <a:t>•  Build: 15 routes + Middleware 57.1kB — verified production build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6035040"/>
            <a:ext cx="11064240" cy="502920"/>
          </a:xfrm>
          <a:prstGeom prst="roundRect">
            <a:avLst/>
          </a:prstGeom>
          <a:solidFill>
            <a:srgbClr val="FFF8E1"/>
          </a:solidFill>
          <a:ln>
            <a:solidFill>
              <a:srgbClr val="F0E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0807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7C5A0A"/>
                </a:solidFill>
                <a:latin typeface="Calibri"/>
              </a:defRPr>
            </a:pPr>
            <a:r>
              <a:t>Setup: 1) Run whitelist.sql → lectures_history.sql → step5_lms.sql  2) Run enas_teacher_setup.sql &amp; eman_teacher_setup.sql  3) Run fix_lectures_history_teacher_username.sql  4) Set TEACHER_SESSION_SECRET + GEMINI_API_KEY on Vercel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B3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14657A"/>
                </a:solidFill>
                <a:latin typeface="Calibri"/>
              </a:defRPr>
            </a:pPr>
            <a:r>
              <a:t>07  LIVE PREVIEW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B3C49"/>
                </a:solidFill>
                <a:latin typeface="Calibri"/>
              </a:defRPr>
            </a:pPr>
            <a:r>
              <a:t>Screens &amp; Experience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55778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5303520" cy="3200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2763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0B3C49"/>
                </a:solidFill>
                <a:latin typeface="Calibri"/>
              </a:defRPr>
            </a:pPr>
            <a:r>
              <a:t>/  Home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0">
                <a:solidFill>
                  <a:srgbClr val="334155"/>
                </a:solidFill>
                <a:latin typeface="Calibri"/>
              </a:defRPr>
            </a:pPr>
            <a:r>
              <a:t>Hero: Generate lecture form (title + text + files) → Gemini settings (language) → Live Markdown preview + Export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417320"/>
            <a:ext cx="55778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37960" y="1600200"/>
            <a:ext cx="5303520" cy="3200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62763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0B3C49"/>
                </a:solidFill>
                <a:latin typeface="Calibri"/>
              </a:defRPr>
            </a:pPr>
            <a:r>
              <a:t>/teacher/[username]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05740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0">
                <a:solidFill>
                  <a:srgbClr val="334155"/>
                </a:solidFill>
                <a:latin typeface="Calibri"/>
              </a:defRPr>
            </a:pPr>
            <a:r>
              <a:t>Dashboard: welcome banner, subjects by semester with schedule chips, created courses grid, invite panel, quick tools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840480"/>
            <a:ext cx="55778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" y="4023360"/>
            <a:ext cx="5303520" cy="3200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05079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0B3C49"/>
                </a:solidFill>
                <a:latin typeface="Calibri"/>
              </a:defRPr>
            </a:pPr>
            <a:r>
              <a:t>/courses/[id]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48056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0">
                <a:solidFill>
                  <a:srgbClr val="334155"/>
                </a:solidFill>
                <a:latin typeface="Calibri"/>
              </a:defRPr>
            </a:pPr>
            <a:r>
              <a:t>Course page: 5 tabs — Lectures (publish/unpublish), Students (enroll/remove), Attendance, Coursework, Exams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840480"/>
            <a:ext cx="55778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37960" y="4023360"/>
            <a:ext cx="5303520" cy="3200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405079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0B3C49"/>
                </a:solidFill>
                <a:latin typeface="Calibri"/>
              </a:defRPr>
            </a:pPr>
            <a:r>
              <a:t>/student  &amp;  Header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48056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0">
                <a:solidFill>
                  <a:srgbClr val="334155"/>
                </a:solidFill>
                <a:latin typeface="Calibri"/>
              </a:defRPr>
            </a:pPr>
            <a:r>
              <a:t>Student view: My Courses with read-only lectures + grades. Global header: role-aware logout (teacher/student)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3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E3B23C"/>
                </a:solidFill>
                <a:latin typeface="Calibri"/>
              </a:defRPr>
            </a:pPr>
            <a:r>
              <a:t>PROJECT CREDIT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Technical Project Idea</a:t>
            </a:r>
          </a:p>
        </p:txBody>
      </p:sp>
      <p:sp>
        <p:nvSpPr>
          <p:cNvPr id="5" name="Rectangle 4"/>
          <p:cNvSpPr/>
          <p:nvPr/>
        </p:nvSpPr>
        <p:spPr>
          <a:xfrm>
            <a:off x="5394960" y="2194560"/>
            <a:ext cx="1371600" cy="73152"/>
          </a:xfrm>
          <a:prstGeom prst="rect">
            <a:avLst/>
          </a:prstGeom>
          <a:solidFill>
            <a:srgbClr val="E3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E3B23C"/>
                </a:solidFill>
                <a:latin typeface="Calibri"/>
              </a:defRPr>
            </a:pPr>
            <a:r>
              <a:t>A. Inas Mesbah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47472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English Department — Faculty of Education — Sabratha University</a:t>
            </a:r>
            <a:br/>
            <a:r>
              <a:t>Conceived, directed and supervised the pedagogical model, data structure and AI workflow for TEACH-LAP.</a:t>
            </a:r>
            <a:br/>
            <a:r>
              <a:t>Private instance: 2 teachers, isolated workspaces, bilingual AI grounded in the Standard Classroom.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57784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1">
                <a:solidFill>
                  <a:srgbClr val="AABBCC"/>
                </a:solidFill>
                <a:latin typeface="Calibri"/>
              </a:defRPr>
            </a:pPr>
            <a:r>
              <a:t>This presentation contains no credentials. Access is granted individually via username + permanent code.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