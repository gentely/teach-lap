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3"/><Relationship Id="rId3" Type="http://schemas.openxmlformats.org/officeDocument/2006/relationships/video" Target="../media/media1.mp3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3"/><Relationship Id="rId3" Type="http://schemas.openxmlformats.org/officeDocument/2006/relationships/video" Target="../media/media2.mp3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3"/><Relationship Id="rId3" Type="http://schemas.openxmlformats.org/officeDocument/2006/relationships/video" Target="../media/media3.mp3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3"/><Relationship Id="rId3" Type="http://schemas.openxmlformats.org/officeDocument/2006/relationships/video" Target="../media/media4.mp3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3"/><Relationship Id="rId3" Type="http://schemas.openxmlformats.org/officeDocument/2006/relationships/video" Target="../media/media5.mp3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3"/><Relationship Id="rId3" Type="http://schemas.openxmlformats.org/officeDocument/2006/relationships/video" Target="../media/media6.mp3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3"/><Relationship Id="rId3" Type="http://schemas.openxmlformats.org/officeDocument/2006/relationships/video" Target="../media/media7.mp3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3"/><Relationship Id="rId3" Type="http://schemas.openxmlformats.org/officeDocument/2006/relationships/video" Target="../media/media8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26880" y="411480"/>
            <a:ext cx="1463040" cy="320040"/>
          </a:xfrm>
          <a:prstGeom prst="round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B3C49"/>
                </a:solidFill>
                <a:latin typeface="Calibri"/>
              </a:defRPr>
            </a:pPr>
            <a:r>
              <a:t>Next.js  •  Supabase  •  Gemini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3B23C"/>
                </a:solidFill>
                <a:latin typeface="Calibri"/>
              </a:defRPr>
            </a:pPr>
            <a:r>
              <a:t>SABRATHA UNIVERSITY  •  FACULTY OF EDUCATION  •  ENGLISH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Calibri"/>
              </a:defRPr>
            </a:pPr>
            <a:r>
              <a:t>TEACH-LAP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0C0"/>
                </a:solidFill>
                <a:latin typeface="Calibri"/>
              </a:defRPr>
            </a:pPr>
            <a:r>
              <a:t>AI-Powered Teaching Assistant for ELT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Transforming lesson preparation from hours to minutes — private, secure, and tailored to the Standard Classroom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AABBCC"/>
                </a:solidFill>
                <a:latin typeface="Calibri"/>
              </a:defRPr>
            </a:pPr>
            <a:r>
              <a:t>Bilingual Platform  •  EN / AR  •  2025 — 2026</a:t>
            </a:r>
          </a:p>
        </p:txBody>
      </p:sp>
      <p:sp>
        <p:nvSpPr>
          <p:cNvPr id="9" name="Oval 8"/>
          <p:cNvSpPr/>
          <p:nvPr/>
        </p:nvSpPr>
        <p:spPr>
          <a:xfrm>
            <a:off x="9601200" y="2926080"/>
            <a:ext cx="1280160" cy="128016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0B3C49"/>
                </a:solidFill>
                <a:latin typeface="Calibri"/>
              </a:defRPr>
            </a:pPr>
            <a:r>
              <a:t>S</a:t>
            </a:r>
          </a:p>
        </p:txBody>
      </p:sp>
      <p:pic>
        <p:nvPicPr>
          <p:cNvPr id="10" name="01_EN_intro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47120" y="137160"/>
            <a:ext cx="54864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E3B23C"/>
                </a:solidFill>
                <a:latin typeface="Calibri"/>
              </a:defRPr>
            </a:pPr>
            <a:r>
              <a:t>🔊 Audio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01 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What is TEACH-LAP?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sz="900" b="0">
                <a:solidFill>
                  <a:srgbClr val="334155"/>
                </a:solidFill>
                <a:latin typeface="Calibri"/>
              </a:defRPr>
            </a:pPr>
            <a:r>
              <a:t>•  A private web platform that converts raw texts and documents into structured, academic lectures in seconds</a:t>
            </a:r>
          </a:p>
          <a:p>
            <a:pPr algn="l">
              <a:spcAft>
                <a:spcPts val="800"/>
              </a:spcAft>
              <a:defRPr sz="900" b="0">
                <a:solidFill>
                  <a:srgbClr val="334155"/>
                </a:solidFill>
                <a:latin typeface="Calibri"/>
              </a:defRPr>
            </a:pPr>
            <a:r>
              <a:t>•  Powered by Gemini AI — generates: summary (220-350 words), core concepts, key takeaways, classroom applications, scenario Q&amp;A, reflection tasks &amp; discussion questions</a:t>
            </a:r>
          </a:p>
          <a:p>
            <a:pPr algn="l">
              <a:spcAft>
                <a:spcPts val="800"/>
              </a:spcAft>
              <a:defRPr sz="900" b="0">
                <a:solidFill>
                  <a:srgbClr val="334155"/>
                </a:solidFill>
                <a:latin typeface="Calibri"/>
              </a:defRPr>
            </a:pPr>
            <a:r>
              <a:t>•  Every generation is auto-saved to a secure, teacher-isolated history (Supabase) and can be exported as Markdown / .txt</a:t>
            </a:r>
          </a:p>
          <a:p>
            <a:pPr algn="l">
              <a:spcAft>
                <a:spcPts val="800"/>
              </a:spcAft>
              <a:defRPr sz="900" b="0">
                <a:solidFill>
                  <a:srgbClr val="334155"/>
                </a:solidFill>
                <a:latin typeface="Calibri"/>
              </a:defRPr>
            </a:pPr>
            <a:r>
              <a:t>•  Bilingual output: English, Arabic, or Bilingual — grounded in SAMR / TPACK and the Libyan Standard Classroom 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566160" cy="3931920"/>
          </a:xfrm>
          <a:prstGeom prst="roundRect">
            <a:avLst/>
          </a:prstGeom>
          <a:solidFill>
            <a:srgbClr val="F2F9FB"/>
          </a:solidFill>
          <a:ln>
            <a:solidFill>
              <a:srgbClr val="E6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645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3C49"/>
                </a:solidFill>
                <a:latin typeface="Calibri"/>
              </a:defRPr>
            </a:pPr>
            <a:r>
              <a:t>Core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1031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000"/>
              </a:spcAft>
              <a:defRPr sz="900" b="0">
                <a:solidFill>
                  <a:srgbClr val="334155"/>
                </a:solidFill>
                <a:latin typeface="Calibri"/>
              </a:defRPr>
            </a:pPr>
            <a:r>
              <a:t>✓  Large classes? Supported.</a:t>
            </a:r>
          </a:p>
          <a:p>
            <a:pPr algn="l">
              <a:spcAft>
                <a:spcPts val="1000"/>
              </a:spcAft>
              <a:defRPr sz="900" b="0">
                <a:solidFill>
                  <a:srgbClr val="334155"/>
                </a:solidFill>
                <a:latin typeface="Calibri"/>
              </a:defRPr>
            </a:pPr>
            <a:r>
              <a:t>✓  Limited devices? Optimized for smartphones.</a:t>
            </a:r>
          </a:p>
          <a:p>
            <a:pPr algn="l">
              <a:spcAft>
                <a:spcPts val="1000"/>
              </a:spcAft>
              <a:defRPr sz="900" b="0">
                <a:solidFill>
                  <a:srgbClr val="334155"/>
                </a:solidFill>
                <a:latin typeface="Calibri"/>
              </a:defRPr>
            </a:pPr>
            <a:r>
              <a:t>✓  Intermittent internet? Lightweight &amp; fast.</a:t>
            </a:r>
          </a:p>
          <a:p>
            <a:pPr algn="l">
              <a:spcAft>
                <a:spcPts val="1000"/>
              </a:spcAft>
              <a:defRPr sz="900" b="0">
                <a:solidFill>
                  <a:srgbClr val="334155"/>
                </a:solidFill>
                <a:latin typeface="Calibri"/>
              </a:defRPr>
            </a:pPr>
            <a:r>
              <a:t>✓  Teacher privacy? 100% isolated spaces.</a:t>
            </a:r>
          </a:p>
        </p:txBody>
      </p:sp>
      <p:pic>
        <p:nvPicPr>
          <p:cNvPr id="9" name="02_EN_definition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47120" y="137160"/>
            <a:ext cx="54864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🔊 Audio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02 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5778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3C49"/>
                </a:solidFill>
                <a:latin typeface="Calibri"/>
              </a:defRPr>
            </a:pPr>
            <a:r>
              <a:t>⏱ SAVE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334155"/>
                </a:solidFill>
                <a:latin typeface="Calibri"/>
              </a:defRPr>
            </a:pPr>
            <a:r>
              <a:t>Cuts preparation from 3-4 hours to under 5 minutes. Teachers focus on teaching, not formatting.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73152" cy="2240280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5778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3C49"/>
                </a:solidFill>
                <a:latin typeface="Calibri"/>
              </a:defRPr>
            </a:pPr>
            <a:r>
              <a:t>🎯 QUALITY &amp; 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488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334155"/>
                </a:solidFill>
                <a:latin typeface="Calibri"/>
              </a:defRPr>
            </a:pPr>
            <a:r>
              <a:t>Every lecture follows the same academic rigor: SAMR/TPACK links, ELT skill tags, Libyan context fit.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73152" cy="2240280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55778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3C49"/>
                </a:solidFill>
                <a:latin typeface="Calibri"/>
              </a:defRPr>
            </a:pPr>
            <a:r>
              <a:t>🔒 PRIVACY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091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334155"/>
                </a:solidFill>
                <a:latin typeface="Calibri"/>
              </a:defRPr>
            </a:pPr>
            <a:r>
              <a:t>No public marketplace. Each teacher sees only her courses, students, and history. Service-role bypass ensures isolation.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73152" cy="2240280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4023360"/>
            <a:ext cx="55778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3C49"/>
                </a:solidFill>
                <a:latin typeface="Calibri"/>
              </a:defRPr>
            </a:pPr>
            <a:r>
              <a:t>📱 REAL CLASSROOM 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7091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334155"/>
                </a:solidFill>
                <a:latin typeface="Calibri"/>
              </a:defRPr>
            </a:pPr>
            <a:r>
              <a:t>Designed for Standard Classroom — large groups, smartphones only, low bandwidth. No lab required.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023360"/>
            <a:ext cx="73152" cy="2240280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03_EN_importance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47120" y="137160"/>
            <a:ext cx="54864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58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🔊 Audio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03  TARGET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Who Is It For?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57600" cy="411480"/>
          </a:xfrm>
          <a:prstGeom prst="round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E3B23C"/>
                </a:solidFill>
                <a:latin typeface="Calibri"/>
              </a:defRPr>
            </a:pPr>
            <a:r>
              <a:t>PRIMARY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700"/>
              </a:spcAft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 Two dedicated teachers with fully isolated workspaces — each with own login, courses by Year/Semester, and student cohorts</a:t>
            </a:r>
          </a:p>
          <a:p>
            <a:pPr algn="l">
              <a:spcAft>
                <a:spcPts val="700"/>
              </a:spcAft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 Teacher A: 4 active subjects (Years 1-4) — e.g., CALL, Conversation, ELT Methodology, Phonology</a:t>
            </a:r>
          </a:p>
          <a:p>
            <a:pPr algn="l">
              <a:spcAft>
                <a:spcPts val="700"/>
              </a:spcAft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 Teacher B: 3 active subjects (Years 1 &amp; 4) — e.g., Writing, Literature &amp; Micro-Teaching</a:t>
            </a:r>
          </a:p>
          <a:p>
            <a:pPr algn="l">
              <a:spcAft>
                <a:spcPts val="700"/>
              </a:spcAft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 Schedules embedded per subject (Day + Lecture Period + Time)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657600" cy="411480"/>
          </a:xfrm>
          <a:prstGeom prst="round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E3B23C"/>
                </a:solidFill>
                <a:latin typeface="Calibri"/>
              </a:defRPr>
            </a:pPr>
            <a:r>
              <a:t>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700"/>
              </a:spcAft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 Invited per course/year by their teacher via email — no self-registration chaos</a:t>
            </a:r>
          </a:p>
          <a:p>
            <a:pPr algn="l">
              <a:spcAft>
                <a:spcPts val="700"/>
              </a:spcAft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 View published lectures, save summaries (.md/.txt), and see attendance &amp; grades (read-only)</a:t>
            </a:r>
          </a:p>
          <a:p>
            <a:pPr algn="l">
              <a:spcAft>
                <a:spcPts val="700"/>
              </a:spcAft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 No Gemini access — consumption and reflection only, keeping assessment fair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417320"/>
            <a:ext cx="3657600" cy="411480"/>
          </a:xfrm>
          <a:prstGeom prst="round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E3B23C"/>
                </a:solidFill>
                <a:latin typeface="Calibri"/>
              </a:defRPr>
            </a:pPr>
            <a:r>
              <a:t>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0116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700"/>
              </a:spcAft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 Read-only oversight for quality assurance — no editing of teacher content</a:t>
            </a:r>
          </a:p>
          <a:p>
            <a:pPr algn="l">
              <a:spcAft>
                <a:spcPts val="700"/>
              </a:spcAft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 Future-ready: scalable to more teachers without redesign</a:t>
            </a:r>
          </a:p>
        </p:txBody>
      </p:sp>
      <p:pic>
        <p:nvPicPr>
          <p:cNvPr id="14" name="04_EN_audience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47120" y="137160"/>
            <a:ext cx="54864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58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🔊 Audio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04  BENEFITS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Benefits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6858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900" b="1">
                <a:solidFill>
                  <a:srgbClr val="0B3C49"/>
                </a:solidFill>
                <a:latin typeface="Calibri"/>
              </a:defRPr>
            </a:pPr>
            <a:r>
              <a:t>FOR TEACHERS</a:t>
            </a:r>
          </a:p>
          <a:p>
            <a:pPr algn="l">
              <a:spcAft>
                <a:spcPts val="1400"/>
              </a:spcAft>
              <a:defRPr sz="800" b="0">
                <a:solidFill>
                  <a:srgbClr val="334155"/>
                </a:solidFill>
                <a:latin typeface="Calibri"/>
              </a:defRPr>
            </a:pPr>
            <a:r>
              <a:t>Generate → Save → Publish → Track. Manage attendance, coursework &amp; exam scores per course. History with search, view, delete &amp; export.</a:t>
            </a:r>
          </a:p>
          <a:p>
            <a:pPr algn="l">
              <a:spcAft>
                <a:spcPts val="200"/>
              </a:spcAft>
              <a:defRPr sz="900" b="1">
                <a:solidFill>
                  <a:srgbClr val="0B3C49"/>
                </a:solidFill>
                <a:latin typeface="Calibri"/>
              </a:defRPr>
            </a:pPr>
            <a:r>
              <a:t>FOR STUDENTS</a:t>
            </a:r>
          </a:p>
          <a:p>
            <a:pPr algn="l">
              <a:spcAft>
                <a:spcPts val="1400"/>
              </a:spcAft>
              <a:defRPr sz="800" b="0">
                <a:solidFill>
                  <a:srgbClr val="334155"/>
                </a:solidFill>
                <a:latin typeface="Calibri"/>
              </a:defRPr>
            </a:pPr>
            <a:r>
              <a:t>One private space: My Courses → Lectures (with summaries) → My Grades (attendance + scores). Simple, mobile-first.</a:t>
            </a:r>
          </a:p>
          <a:p>
            <a:pPr algn="l">
              <a:spcAft>
                <a:spcPts val="200"/>
              </a:spcAft>
              <a:defRPr sz="900" b="1">
                <a:solidFill>
                  <a:srgbClr val="0B3C49"/>
                </a:solidFill>
                <a:latin typeface="Calibri"/>
              </a:defRPr>
            </a:pPr>
            <a:r>
              <a:t>FOR THE INSTITUTION</a:t>
            </a:r>
          </a:p>
          <a:p>
            <a:pPr algn="l">
              <a:spcAft>
                <a:spcPts val="1400"/>
              </a:spcAft>
              <a:defRPr sz="800" b="0">
                <a:solidFill>
                  <a:srgbClr val="334155"/>
                </a:solidFill>
                <a:latin typeface="Calibri"/>
              </a:defRPr>
            </a:pPr>
            <a:r>
              <a:t>Standardized digital archive, bilingual capability, secure Supabase RLS + service-role isolation, 90-day persistent login.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749039" cy="4846320"/>
          </a:xfrm>
          <a:prstGeom prst="round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E3B23C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1488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FFFFFF"/>
                </a:solidFill>
                <a:latin typeface="Calibri"/>
              </a:defRPr>
            </a:pPr>
            <a:r>
              <a:t>TEACH-LAP is not a generic public site that gets neglected. It is a private, professional hub that solves a real daily problem — preparation time and classroom relevance — while respecting teacher privacy and student fairness. It turns a manual burden into a 5-minute professional workflow.</a:t>
            </a:r>
          </a:p>
        </p:txBody>
      </p:sp>
      <p:pic>
        <p:nvPicPr>
          <p:cNvPr id="9" name="05_EN_benefits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47120" y="137160"/>
            <a:ext cx="54864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🔊 Audio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05  IDEA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B3C49"/>
                </a:solidFill>
                <a:latin typeface="Calibri"/>
              </a:defRPr>
            </a:pPr>
            <a:r>
              <a:t>How It Works — End to End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41732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1.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Teacher logs in with username + permanent code → persistent HMAC-signed cookie (90 days) → redirected to her private dashboard (/teacher/teacher-a).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141732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2. COURSES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645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Courses auto-seeded per subject/year via SQL (teacher_username isolated). Each course has its own interactive page (lectures, students, records).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4320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97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3. INVITE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71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Teacher invites students per course/year by email → course_enrollments created → students see only their teacher’s courses.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274320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697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4. 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Teacher pastes text / uploads files → POST /api/generate → Gemini (gemini-3.5-flash-lite + fallbacks) → JSON → Markdown → saved to lectures_history with teacher_username.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06908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5.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976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GET /api/history (teacher_username filtered, bypass RLS) → searchable history panel (total count, view, expand, delete, export .md/.txt). No Unauthorized.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406908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023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6. PUBLISH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2976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Teacher selects lecture from history → POST /api/courses/[id]/lectures → course_lectures junction → visible instantly to enrolled students.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39496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49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7. 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623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Record attendance (present/absent/late/excused), coursework &amp; exams per course → students see grades read-only in /student.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539496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349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8. LOGOUT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623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Header + Dashboard logout clears both teacher_session &amp; student_session (secure/sameSite) → redirects to correct login.</a:t>
            </a:r>
          </a:p>
        </p:txBody>
      </p:sp>
      <p:pic>
        <p:nvPicPr>
          <p:cNvPr id="29" name="06_EN_workflow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47120" y="137160"/>
            <a:ext cx="548640" cy="365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058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🔊 Audio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06 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Technical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B3C49"/>
                </a:solidFill>
                <a:latin typeface="Calibri"/>
              </a:defRPr>
            </a:pPr>
            <a:r>
              <a:t>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097280" cy="54864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sz="720" b="0">
                <a:solidFill>
                  <a:srgbClr val="334155"/>
                </a:solidFill>
                <a:latin typeface="Calibri"/>
              </a:defRPr>
            </a:pPr>
            <a:r>
              <a:t>•  Frontend: Next.js 14 App Router + Tailwind + i18n (en/ar, RTL aware)</a:t>
            </a:r>
          </a:p>
          <a:p>
            <a:pPr algn="l">
              <a:spcAft>
                <a:spcPts val="800"/>
              </a:spcAft>
              <a:defRPr sz="720" b="0">
                <a:solidFill>
                  <a:srgbClr val="334155"/>
                </a:solidFill>
                <a:latin typeface="Calibri"/>
              </a:defRPr>
            </a:pPr>
            <a:r>
              <a:t>•  Backend: Supabase (Postgres + Auth + RLS) • Service-role bypass for teacher_session</a:t>
            </a:r>
          </a:p>
          <a:p>
            <a:pPr algn="l">
              <a:spcAft>
                <a:spcPts val="800"/>
              </a:spcAft>
              <a:defRPr sz="720" b="0">
                <a:solidFill>
                  <a:srgbClr val="334155"/>
                </a:solidFill>
                <a:latin typeface="Calibri"/>
              </a:defRPr>
            </a:pPr>
            <a:r>
              <a:t>•  AI: Google Gemini API (server-side GEMINI_API_KEY, JSON schema + Markdown render)</a:t>
            </a:r>
          </a:p>
          <a:p>
            <a:pPr algn="l">
              <a:spcAft>
                <a:spcPts val="800"/>
              </a:spcAft>
              <a:defRPr sz="720" b="0">
                <a:solidFill>
                  <a:srgbClr val="334155"/>
                </a:solidFill>
                <a:latin typeface="Calibri"/>
              </a:defRPr>
            </a:pPr>
            <a:r>
              <a:t>•  Auth: Custom HMAC teacher_session (username.code) — no Supabase Auth dependency for teachers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B3C49"/>
                </a:solidFill>
                <a:latin typeface="Calibri"/>
              </a:defRPr>
            </a:pPr>
            <a:r>
              <a:t>DATA &amp; 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1097280" cy="54864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sz="720" b="0">
                <a:solidFill>
                  <a:srgbClr val="334155"/>
                </a:solidFill>
                <a:latin typeface="Calibri"/>
              </a:defRPr>
            </a:pPr>
            <a:r>
              <a:t>•  Tables: courses (teacher_username isolated), course_enrollments, course_lectures, lectures_history (teacher_username + professor_id), attendance, coursework_grades, exam_scores</a:t>
            </a:r>
          </a:p>
          <a:p>
            <a:pPr algn="l">
              <a:spcAft>
                <a:spcPts val="800"/>
              </a:spcAft>
              <a:defRPr sz="720" b="0">
                <a:solidFill>
                  <a:srgbClr val="334155"/>
                </a:solidFill>
                <a:latin typeface="Calibri"/>
              </a:defRPr>
            </a:pPr>
            <a:r>
              <a:t>•  RLS policies + is_enrolled_in_course() / is_teacher_of_course() helpers — bypass only for verified teacher_username</a:t>
            </a:r>
          </a:p>
          <a:p>
            <a:pPr algn="l">
              <a:spcAft>
                <a:spcPts val="800"/>
              </a:spcAft>
              <a:defRPr sz="720" b="0">
                <a:solidFill>
                  <a:srgbClr val="334155"/>
                </a:solidFill>
                <a:latin typeface="Calibri"/>
              </a:defRPr>
            </a:pPr>
            <a:r>
              <a:t>•  Middleware: protects /teacher, /admin, /courses/[id] — allows /api/auth/* public</a:t>
            </a:r>
          </a:p>
          <a:p>
            <a:pPr algn="l">
              <a:spcAft>
                <a:spcPts val="800"/>
              </a:spcAft>
              <a:defRPr sz="720" b="0">
                <a:solidFill>
                  <a:srgbClr val="334155"/>
                </a:solidFill>
                <a:latin typeface="Calibri"/>
              </a:defRPr>
            </a:pPr>
            <a:r>
              <a:t>•  Build: 15 routes + Middleware 57.1kB — verified production 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6035040"/>
            <a:ext cx="11064240" cy="502920"/>
          </a:xfrm>
          <a:prstGeom prst="roundRect">
            <a:avLst/>
          </a:prstGeom>
          <a:solidFill>
            <a:srgbClr val="FFF8E1"/>
          </a:solidFill>
          <a:ln>
            <a:solidFill>
              <a:srgbClr val="F0E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80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7C5A0A"/>
                </a:solidFill>
                <a:latin typeface="Calibri"/>
              </a:defRPr>
            </a:pPr>
            <a:r>
              <a:t>Setup: 1) Run whitelist.sql → lectures_history.sql → step5_lms.sql  2) Run enas_teacher_setup.sql &amp; eman_teacher_setup.sql  3) Run fix_lectures_history_teacher_username.sql  4) Set TEACHER_SESSION_SECRET + GEMINI_API_KEY on Vercel</a:t>
            </a:r>
          </a:p>
        </p:txBody>
      </p:sp>
      <p:pic>
        <p:nvPicPr>
          <p:cNvPr id="13" name="07_EN_tech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47120" y="137160"/>
            <a:ext cx="54864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🔊 Audio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07  LIVE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Screens &amp;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577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3035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/ 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Hero: Generate lecture form (title + text + files) → Gemini settings (language) → Live Markdown preview + Export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577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37960" y="1600200"/>
            <a:ext cx="53035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27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/teacher/[username]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574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Dashboard: welcome banner, subjects by semester with schedule chips, created courses grid, invite panel, quick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577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4023360"/>
            <a:ext cx="53035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507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/courses/[id]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Course page: 5 tabs — Lectures (publish/unpublish), Students (enroll/remove), Attendance, Coursework, Exams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840480"/>
            <a:ext cx="5577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4023360"/>
            <a:ext cx="53035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0507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/student  &amp;  Header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4805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Student view: My Courses with read-only lectures + grades. Global header: role-aware logout (teacher/student)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🔇 Preview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E3B23C"/>
                </a:solidFill>
                <a:latin typeface="Calibri"/>
              </a:defRPr>
            </a:pPr>
            <a:r>
              <a:t>PROJECT CREDIT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Technical Project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2194560"/>
            <a:ext cx="1371600" cy="73152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E3B23C"/>
                </a:solidFill>
                <a:latin typeface="Calibri"/>
              </a:defRPr>
            </a:pPr>
            <a:r>
              <a:t>A. Inas Mesbah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English Department — Faculty of Education — Sabratha University</a:t>
            </a:r>
            <a:br/>
            <a:r>
              <a:t>Conceived, directed and supervised the pedagogical model, data structure and AI workflow for TEACH-LAP.</a:t>
            </a:r>
            <a:br/>
            <a:r>
              <a:t>Private instance: 2 teachers, isolated workspaces, bilingual AI grounded in the Standard Classroom.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778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AABBCC"/>
                </a:solidFill>
                <a:latin typeface="Calibri"/>
              </a:defRPr>
            </a:pPr>
            <a:r>
              <a:t>This presentation contains no credentials. Access is granted individually via username + permanent code.</a:t>
            </a:r>
          </a:p>
        </p:txBody>
      </p:sp>
      <p:pic>
        <p:nvPicPr>
          <p:cNvPr id="9" name="08_EN_closing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47120" y="137160"/>
            <a:ext cx="54864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E3B23C"/>
                </a:solidFill>
                <a:latin typeface="Calibri"/>
              </a:defRPr>
            </a:pPr>
            <a:r>
              <a:t>🔊 Audio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